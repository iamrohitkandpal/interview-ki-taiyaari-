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K+4vg4xK20FwsbBRsHIA3Lx5k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C8CE64-8214-4ED6-A593-D1D592F2AACF}">
  <a:tblStyle styleId="{39C8CE64-8214-4ED6-A593-D1D592F2AA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b9b05fd70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b9b05fd70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b9b05fd7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bb9b05fd7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b9b05fd70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b9b05fd70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2288" y="0"/>
            <a:ext cx="1997850" cy="57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wasp.org/www-project-top-10-for-large-language-model-applications/" TargetMode="External"/><Relationship Id="rId4" Type="http://schemas.openxmlformats.org/officeDocument/2006/relationships/hyperlink" Target="https://arxiv.org/abs/2306.05499" TargetMode="External"/><Relationship Id="rId5" Type="http://schemas.openxmlformats.org/officeDocument/2006/relationships/hyperlink" Target="https://www.bing.com/ck/a?!&amp;&amp;p=446950323ac267fb408316721fceb1313a34ab18e847a1cd1cd512eec9ef7f10JmltdHM9MTc2OTEyNjQwMA&amp;ptn=3&amp;ver=2&amp;hsh=4&amp;fclid=01155662-28f5-63ef-1b9d-42ab2947629f&amp;psq=Ignore+This+Title+and+HackAPrompt%3a+Exposing+Systemic+Vulnerabilities+of+LLMs+through+a+Global+Scale+Prompt+Hacking+Competition.&amp;u=a1aHR0cHM6Ly9hcnhpdi5vcmcvYWJzLzIzMTEuMTYxMTk" TargetMode="External"/><Relationship Id="rId6" Type="http://schemas.openxmlformats.org/officeDocument/2006/relationships/hyperlink" Target="https://www.bing.com/ck/a?!&amp;&amp;p=ce6c686a3ce592e40fff791065367fcef2061156b585310967a6d555ac312828JmltdHM9MTc2OTEyNjQwMA&amp;ptn=3&amp;ver=2&amp;hsh=4&amp;fclid=01155662-28f5-63ef-1b9d-42ab2947629f&amp;psq=%22Jailbroken%3a+How+Does+LLM++++++Safety+Training+Fail%3f+&amp;u=a1aHR0cHM6Ly9hcnhpdi5vcmcvYWJzLzIzMDcuMDI0ODM" TargetMode="External"/><Relationship Id="rId7" Type="http://schemas.openxmlformats.org/officeDocument/2006/relationships/hyperlink" Target="https://www.bing.com/ck/a?!&amp;&amp;p=d8711ae9dcb528d700c56400185a75d2d0c97e747b570aad1def4222a77c897bJmltdHM9MTc2OTEyNjQwMA&amp;ptn=3&amp;ver=2&amp;hsh=4&amp;fclid=01155662-28f5-63ef-1b9d-42ab2947629f&amp;psq=%22Not+What+You%27ve+Signed+Up+For%3a+Compromising+Real-World+LLM-Integrated+Applications+with+Indirect+Prompt+Injection.%22&amp;u=a1aHR0cHM6Ly9oaXguYWkvc2Nob2xhci9wYXBlci9ub3Qtd2hhdC15b3V2ZS1zaWduZWQtdXAtZm9yLWNvbXByb21pc2luZy1yZWFsLXdvcmxkLWxsbS1pbnRlZ3JhdGVkLWFwcGxpY2F0aW9ucy13aXRoLWluZGlyZWN0LXByb21wdC1pbmplY3Rpb24tNzA1ZTQ5YWZkOTIxMzBmMmJjMWUwZDRkMGIxZjZjYjE0ZTg4ODAzZ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2609" t="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6165" y="250926"/>
            <a:ext cx="4939665" cy="103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-6200" y="4478100"/>
            <a:ext cx="12192000" cy="23799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: Rohit 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</a:t>
            </a: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nchandra Kandpal, 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Vikas Bhati, 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Anish Prajapati, Aashish Sumera</a:t>
            </a:r>
            <a:endParaRPr sz="3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Enrollment No: 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2201030700016</a:t>
            </a: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22010307000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61, 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2301030730023</a:t>
            </a:r>
            <a:r>
              <a:rPr b="1" lang="en-I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2201030700003</a:t>
            </a:r>
            <a:b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Branch: </a:t>
            </a:r>
            <a:r>
              <a:rPr b="1" i="0" lang="en-IN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(CS)</a:t>
            </a:r>
            <a:endParaRPr sz="3000"/>
          </a:p>
        </p:txBody>
      </p:sp>
      <p:sp>
        <p:nvSpPr>
          <p:cNvPr id="96" name="Google Shape;96;p1"/>
          <p:cNvSpPr txBox="1"/>
          <p:nvPr/>
        </p:nvSpPr>
        <p:spPr>
          <a:xfrm>
            <a:off x="1041573" y="1308153"/>
            <a:ext cx="10580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IN" sz="5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IN" sz="54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1010073492</a:t>
            </a:r>
            <a:endParaRPr b="1" i="0" sz="5400" u="none" cap="none" strike="noStrike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lang="en-IN" sz="540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Security Testing Platform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31475" y="56255"/>
            <a:ext cx="1422400" cy="71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Index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609600" y="141765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Introduction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Background and Motivation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Relevance and Importance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Literature review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Objectives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Required Tools and Technology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Method/ Approach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Bibliography</a:t>
            </a:r>
            <a:endParaRPr sz="2800"/>
          </a:p>
        </p:txBody>
      </p:sp>
      <p:sp>
        <p:nvSpPr>
          <p:cNvPr id="104" name="Google Shape;104;p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1436550" y="1417650"/>
            <a:ext cx="93189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Large Language Models (LLMs) like ChatGPT, Claude, and Gemini are being rapidly integrated into enterprise applications - chatbots, customer service, code generation, and decision-making systems.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This integration introduces a new class of security vulnerabilities unique to AI systems, particularly Prompt Injection attacks.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Prompt Injection allows attackers to manipulate LLM behavior by crafting malicious inputs that override system instructions, bypass </a:t>
            </a:r>
            <a:endParaRPr sz="2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safety guardrails, or extract sensitive information.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PromptShield is a security testing platform that enables developers </a:t>
            </a:r>
            <a:endParaRPr sz="2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and security teams to test their LLM applications against known </a:t>
            </a:r>
            <a:endParaRPr sz="2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attack vectors and implement effective defenses.</a:t>
            </a:r>
            <a:endParaRPr sz="2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Research Domain: AI Security, Cybersecurity, Application Security</a:t>
            </a:r>
            <a:endParaRPr sz="2200"/>
          </a:p>
        </p:txBody>
      </p:sp>
      <p:sp>
        <p:nvSpPr>
          <p:cNvPr id="112" name="Google Shape;112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Background and Motivation</a:t>
            </a:r>
            <a:endParaRPr/>
          </a:p>
        </p:txBody>
      </p:sp>
      <p:sp>
        <p:nvSpPr>
          <p:cNvPr id="119" name="Google Shape;119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20" name="Google Shape;120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1436550" y="1417650"/>
            <a:ext cx="93189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Background: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Traditional security testing tools (OWASP ZAP, Burp Suite) were designed for web applications and are inadequate for LLM systems.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The OWASP Top 10 for LLM Applications (2023) identified Prompt Injection as the #1 security risk for LLM-integrated applications [1].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86% of 36 real-world LLM applications tested were found vulnerable to prompt injection attacks (HouYi Research, 2023) [2].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200"/>
            </a:br>
            <a:r>
              <a:rPr lang="en-IN" sz="2200"/>
              <a:t>Motivation: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No comprehensive, open-source tool exists for testing LLM security.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Organizations deploying AI lack visibility into their vulnerability exposure against prompt-based attacks.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Personal interest in bridging cybersecurity expertise with emerging AI security challenges.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Relevance and Importance</a:t>
            </a:r>
            <a:endParaRPr/>
          </a:p>
        </p:txBody>
      </p:sp>
      <p:sp>
        <p:nvSpPr>
          <p:cNvPr id="127" name="Google Shape;127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436550" y="1417650"/>
            <a:ext cx="93189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Why This Research Matters: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1. Industry Need: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Market for AI security tools projected to reach $60B by 2028 [3]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Every company deploying LLMs needs security testing capabilities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2. Academic Contribution: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Novel approach combining multiple detection techniques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Practical o</a:t>
            </a:r>
            <a:r>
              <a:rPr lang="en-IN" sz="2200"/>
              <a:t>pen-source contribution to the security community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3. Who Benefits: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Developers building LLM-powered applications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Security teams conducting AI red-teaming or ensuring AI safety.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4. Research Gap: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Existing research focuses on attacks, not detection tools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No standardized testing framework for LLM vulnerabilities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Literature Review</a:t>
            </a:r>
            <a:endParaRPr/>
          </a:p>
        </p:txBody>
      </p:sp>
      <p:sp>
        <p:nvSpPr>
          <p:cNvPr id="135" name="Google Shape;135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1247400" y="1417650"/>
            <a:ext cx="96972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Key Research Papers: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[1] OWASP Top 10 for LLM Applications (2023)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Established first standardized vulnerability taxonomy for LLMs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Identified 10 critical risks including prompt injection, data poisoning, and sensitive information disclosure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[2] "Prompt Injection Attack Against LLM-Integrated Applications"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Liu et al. (2023) - arXiv:2306.05499. Introduced HouYi attack </a:t>
            </a:r>
            <a:r>
              <a:rPr lang="en-IN" sz="2200"/>
              <a:t>framework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Tested 36 applications, found 31 vulnerable (86%). Validated by 10 vendors including Notion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[3] "Ignore This Title and HackAPrompt" - Schulhoff et al. (2023)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Created comprehensive taxonomy of prompt injection attacks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IN" sz="2200"/>
              <a:t>Categorized attacks into direct and indirect injection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Current Status: Active research area with weekly new publications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Objectives</a:t>
            </a:r>
            <a:endParaRPr/>
          </a:p>
        </p:txBody>
      </p:sp>
      <p:sp>
        <p:nvSpPr>
          <p:cNvPr id="143" name="Google Shape;143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1247400" y="1417650"/>
            <a:ext cx="96972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/>
              <a:t>Primary Objectives: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1. Develop a web-based platform for automated LLM security testing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2. Create a comprehensive attack library covering: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 - Prompt Injection (direct and indirect)		- Jailbreak attempts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 - Data/System Prompt Extraction				- Context Manipulation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3. Implement automated vulnerability detection algorithms that analyze LLM</a:t>
            </a:r>
            <a:br>
              <a:rPr lang="en-IN" sz="2200"/>
            </a:br>
            <a:r>
              <a:rPr lang="en-IN" sz="2200"/>
              <a:t>    responses for security violations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4. Design a defense testing module to evaluate protection strategies: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 - Input sanitization	- Prompt hardening		- Output filtering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5. Generate actionable security reports with risk scores and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</a:t>
            </a:r>
            <a:r>
              <a:rPr lang="en-IN" sz="2200"/>
              <a:t> </a:t>
            </a:r>
            <a:r>
              <a:rPr lang="en-IN" sz="2200"/>
              <a:t>remediation recommendations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6. Open-source the platform for community contribution and research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b9b05fd70_0_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Required Tools and Technology</a:t>
            </a:r>
            <a:endParaRPr/>
          </a:p>
        </p:txBody>
      </p:sp>
      <p:sp>
        <p:nvSpPr>
          <p:cNvPr id="151" name="Google Shape;151;g3bb9b05fd70_0_38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52" name="Google Shape;152;g3bb9b05fd70_0_38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153" name="Google Shape;153;g3bb9b05fd70_0_38"/>
          <p:cNvGraphicFramePr/>
          <p:nvPr/>
        </p:nvGraphicFramePr>
        <p:xfrm>
          <a:off x="952500" y="141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{39C8CE64-8214-4ED6-A593-D1D592F2AACF}</a:tableStyleId>
              </a:tblPr>
              <a:tblGrid>
                <a:gridCol w="2838450"/>
                <a:gridCol w="3810000"/>
                <a:gridCol w="4171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b="1" sz="22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Component/Tool</a:t>
                      </a:r>
                      <a:endParaRPr b="1" sz="22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1F1F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 b="1" sz="2200">
                        <a:solidFill>
                          <a:srgbClr val="1F1F1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 Tool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React.js with Vite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Components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Styling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Shadcn/UI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Tailwind CSS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Visualization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Chart.js/Recharts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Node.js with Express.js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 API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Integration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&amp; Optional API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Groq API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chemeClr val="lt1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 API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Testing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Hosting (Frontend/Backend)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Vercel &amp; Render/Railway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 Control &amp; CI/CD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 &amp; </a:t>
                      </a: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Tools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Tools, IDEs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Code, Antigravity, Postman</a:t>
                      </a:r>
                      <a:endParaRPr sz="2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76200" marL="76200">
                    <a:lnL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b9b05fd70_0_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Required Tools and Technology</a:t>
            </a:r>
            <a:endParaRPr/>
          </a:p>
        </p:txBody>
      </p:sp>
      <p:sp>
        <p:nvSpPr>
          <p:cNvPr id="159" name="Google Shape;159;g3bb9b05fd70_0_14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60" name="Google Shape;160;g3bb9b05fd70_0_14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1" name="Google Shape;161;g3bb9b05fd70_0_14"/>
          <p:cNvPicPr preferRelativeResize="0"/>
          <p:nvPr/>
        </p:nvPicPr>
        <p:blipFill rotWithShape="1">
          <a:blip r:embed="rId3">
            <a:alphaModFix/>
          </a:blip>
          <a:srcRect b="10682" l="0" r="0" t="0"/>
          <a:stretch/>
        </p:blipFill>
        <p:spPr>
          <a:xfrm>
            <a:off x="1802776" y="1278350"/>
            <a:ext cx="8586424" cy="5078000"/>
          </a:xfrm>
          <a:prstGeom prst="rect">
            <a:avLst/>
          </a:prstGeom>
          <a:noFill/>
          <a:ln cap="flat" cmpd="sng" w="762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Project Approach</a:t>
            </a:r>
            <a:endParaRPr/>
          </a:p>
        </p:txBody>
      </p:sp>
      <p:sp>
        <p:nvSpPr>
          <p:cNvPr id="167" name="Google Shape;167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68" name="Google Shape;168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9" name="Google Shape;169;p9"/>
          <p:cNvSpPr txBox="1"/>
          <p:nvPr>
            <p:ph idx="1" type="body"/>
          </p:nvPr>
        </p:nvSpPr>
        <p:spPr>
          <a:xfrm>
            <a:off x="609600" y="1495400"/>
            <a:ext cx="54864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rgbClr val="000000"/>
                </a:solidFill>
              </a:rPr>
              <a:t>Phase 1: Research &amp; Design (Week 1)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Literature review of LLM vulnerabilities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Study OWASP Top 10 for LLM Applications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Design system architecture and API structure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rgbClr val="000000"/>
                </a:solidFill>
              </a:rPr>
              <a:t>Phase 2: Core Development (Week 2-3)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Backend API development (Node.js)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Attack implementation (50+ attack vectors)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LLM integration layer for multiple providers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rgbClr val="000000"/>
                </a:solidFill>
              </a:rPr>
              <a:t>Phase 3: Detection Engine (Week 3-4)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Pattern-based detection algorithms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000000"/>
                </a:solidFill>
              </a:rPr>
              <a:t>- Semantic analysis of responses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Confidence scoring system</a:t>
            </a:r>
            <a:endParaRPr b="1" sz="2200"/>
          </a:p>
        </p:txBody>
      </p:sp>
      <p:sp>
        <p:nvSpPr>
          <p:cNvPr id="170" name="Google Shape;170;p9"/>
          <p:cNvSpPr txBox="1"/>
          <p:nvPr>
            <p:ph idx="1" type="body"/>
          </p:nvPr>
        </p:nvSpPr>
        <p:spPr>
          <a:xfrm>
            <a:off x="6096000" y="1573150"/>
            <a:ext cx="54864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00000"/>
                </a:solidFill>
              </a:rPr>
              <a:t>Phase 4: Frontend &amp; Integration (Week 4-5)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Dashboard development (React)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Real-time testing interface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Report generation module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00000"/>
                </a:solidFill>
              </a:rPr>
              <a:t>Phase 5: Testing &amp; Documentation (Week 5-6)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End-to-end testing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Security validation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</a:rPr>
              <a:t>- Research paper writing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b9b05fd70_0_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Project Working Method</a:t>
            </a:r>
            <a:endParaRPr/>
          </a:p>
        </p:txBody>
      </p:sp>
      <p:sp>
        <p:nvSpPr>
          <p:cNvPr id="176" name="Google Shape;176;g3bb9b05fd70_0_26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77" name="Google Shape;177;g3bb9b05fd70_0_26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78" name="Google Shape;178;g3bb9b05fd70_0_26"/>
          <p:cNvPicPr preferRelativeResize="0"/>
          <p:nvPr/>
        </p:nvPicPr>
        <p:blipFill rotWithShape="1">
          <a:blip r:embed="rId3">
            <a:alphaModFix/>
          </a:blip>
          <a:srcRect b="13703" l="0" r="0" t="0"/>
          <a:stretch/>
        </p:blipFill>
        <p:spPr>
          <a:xfrm>
            <a:off x="2058925" y="1417650"/>
            <a:ext cx="8074174" cy="4815925"/>
          </a:xfrm>
          <a:prstGeom prst="rect">
            <a:avLst/>
          </a:prstGeom>
          <a:noFill/>
          <a:ln cap="flat" cmpd="sng" w="762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Bibliography</a:t>
            </a:r>
            <a:endParaRPr/>
          </a:p>
        </p:txBody>
      </p:sp>
      <p:sp>
        <p:nvSpPr>
          <p:cNvPr id="184" name="Google Shape;18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24-01-2026</a:t>
            </a:r>
            <a:endParaRPr/>
          </a:p>
        </p:txBody>
      </p:sp>
      <p:sp>
        <p:nvSpPr>
          <p:cNvPr id="185" name="Google Shape;185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6" name="Google Shape;186;p10"/>
          <p:cNvSpPr txBox="1"/>
          <p:nvPr>
            <p:ph idx="1" type="body"/>
          </p:nvPr>
        </p:nvSpPr>
        <p:spPr>
          <a:xfrm>
            <a:off x="1247400" y="1417650"/>
            <a:ext cx="9697200" cy="4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[1] OWASP Foundation. </a:t>
            </a:r>
            <a:r>
              <a:rPr lang="en-IN" sz="2200" u="sng">
                <a:solidFill>
                  <a:schemeClr val="hlink"/>
                </a:solidFill>
                <a:hlinkClick r:id="rId3"/>
              </a:rPr>
              <a:t>"OWASP Top 10 for Large Language Model Applications v1.1."</a:t>
            </a:r>
            <a:r>
              <a:rPr lang="en-IN" sz="2200"/>
              <a:t> OWASP, 2023.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[2] Liu, Y., Deng, G., Li, Y., et al. </a:t>
            </a:r>
            <a:r>
              <a:rPr lang="en-IN" sz="2200" u="sng">
                <a:solidFill>
                  <a:schemeClr val="hlink"/>
                </a:solidFill>
                <a:hlinkClick r:id="rId4"/>
              </a:rPr>
              <a:t>"Prompt Injection attack against LLM-integrated Applications."</a:t>
            </a:r>
            <a:r>
              <a:rPr lang="en-IN" sz="2200"/>
              <a:t> </a:t>
            </a:r>
            <a:r>
              <a:rPr lang="en-IN" sz="2200"/>
              <a:t>arXiv preprint arXiv:2306.05499, 2023.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[3] Schulhoff, S., Pinto, J., et al. </a:t>
            </a:r>
            <a:r>
              <a:rPr lang="en-IN" sz="2200" u="sng">
                <a:solidFill>
                  <a:schemeClr val="hlink"/>
                </a:solidFill>
                <a:hlinkClick r:id="rId5"/>
              </a:rPr>
              <a:t>"Ignore This Title and HackAPrompt: Exposing Systemic Vulnerabilities of LLMs through a Global Scale Prompt Hacking Competition."</a:t>
            </a:r>
            <a:r>
              <a:rPr lang="en-IN" sz="2200"/>
              <a:t> arXiv:2311.16119, 2023.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[4] Wei, A., Haghtalab, N., Steinhardt, J. </a:t>
            </a:r>
            <a:r>
              <a:rPr lang="en-IN" sz="2200" u="sng">
                <a:solidFill>
                  <a:schemeClr val="hlink"/>
                </a:solidFill>
                <a:hlinkClick r:id="rId6"/>
              </a:rPr>
              <a:t>"Jailbroken: How Does LLM Safety Training Fail?"</a:t>
            </a:r>
            <a:r>
              <a:rPr lang="en-IN" sz="2200"/>
              <a:t> arXiv:2307.02483, 2023.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[5] Greshake, K., et al. </a:t>
            </a:r>
            <a:r>
              <a:rPr lang="en-IN" sz="2200" u="sng">
                <a:solidFill>
                  <a:schemeClr val="hlink"/>
                </a:solidFill>
                <a:hlinkClick r:id="rId7"/>
              </a:rPr>
              <a:t>"Not What You've Signed Up For: Compromising Real-World LLM-Integrated Applications with Indirect Prompt Injection."</a:t>
            </a:r>
            <a:r>
              <a:rPr lang="en-IN" sz="2200"/>
              <a:t> arXiv:2302.12173, 2023.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2020-09-07T10:12:37Z</dcterms:created>
  <dc:creator>Utsav Yagnik</dc:creator>
</cp:coreProperties>
</file>