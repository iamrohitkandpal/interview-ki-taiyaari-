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gQq6aymKlG2UB21TZK5sscQXlk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5CA0A09-804E-4D79-A573-ADB28B55AC29}">
  <a:tblStyle styleId="{15CA0A09-804E-4D79-A573-ADB28B55AC2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B936CAC-1360-44C0-B208-071E7884187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ebe9a01eb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debe9a01eb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b9b05fd70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bb9b05fd70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b9b05fd70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bb9b05fd70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b9b05fd70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bb9b05fd70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ebe9a01eb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debe9a01eb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ebe9a01eb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debe9a01eb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1" name="Google Shape;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26037" y="0"/>
            <a:ext cx="1965963" cy="568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8" name="Google Shape;28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62288" y="0"/>
            <a:ext cx="1997850" cy="578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1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15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" name="Google Shape;39;p1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2" name="Google Shape;42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091217" y="0"/>
            <a:ext cx="2066929" cy="598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16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6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1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2" name="Google Shape;5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022907" y="1"/>
            <a:ext cx="2137230" cy="618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9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19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6" name="Google Shape;66;p1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9" name="Google Shape;69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020764" y="0"/>
            <a:ext cx="2139373" cy="619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2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4" name="Google Shape;74;p2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owasp.org/www-project-top-10-for-large-language-model-applications/" TargetMode="External"/><Relationship Id="rId4" Type="http://schemas.openxmlformats.org/officeDocument/2006/relationships/hyperlink" Target="https://arxiv.org/abs/2306.05499" TargetMode="External"/><Relationship Id="rId5" Type="http://schemas.openxmlformats.org/officeDocument/2006/relationships/hyperlink" Target="https://www.bing.com/ck/a?!&amp;&amp;p=446950323ac267fb408316721fceb1313a34ab18e847a1cd1cd512eec9ef7f10JmltdHM9MTc2OTEyNjQwMA&amp;ptn=3&amp;ver=2&amp;hsh=4&amp;fclid=01155662-28f5-63ef-1b9d-42ab2947629f&amp;psq=Ignore+This+Title+and+HackAPrompt%3a+Exposing+Systemic+Vulnerabilities+of+LLMs+through+a+Global+Scale+Prompt+Hacking+Competition.&amp;u=a1aHR0cHM6Ly9hcnhpdi5vcmcvYWJzLzIzMTEuMTYxMTk" TargetMode="External"/><Relationship Id="rId6" Type="http://schemas.openxmlformats.org/officeDocument/2006/relationships/hyperlink" Target="https://www.bing.com/ck/a?!&amp;&amp;p=ce6c686a3ce592e40fff791065367fcef2061156b585310967a6d555ac312828JmltdHM9MTc2OTEyNjQwMA&amp;ptn=3&amp;ver=2&amp;hsh=4&amp;fclid=01155662-28f5-63ef-1b9d-42ab2947629f&amp;psq=%22Jailbroken%3a+How+Does+LLM++++++Safety+Training+Fail%3f+&amp;u=a1aHR0cHM6Ly9hcnhpdi5vcmcvYWJzLzIzMDcuMDI0ODM" TargetMode="External"/><Relationship Id="rId7" Type="http://schemas.openxmlformats.org/officeDocument/2006/relationships/hyperlink" Target="https://www.bing.com/ck/a?!&amp;&amp;p=d8711ae9dcb528d700c56400185a75d2d0c97e747b570aad1def4222a77c897bJmltdHM9MTc2OTEyNjQwMA&amp;ptn=3&amp;ver=2&amp;hsh=4&amp;fclid=01155662-28f5-63ef-1b9d-42ab2947629f&amp;psq=%22Not+What+You%27ve+Signed+Up+For%3a+Compromising+Real-World+LLM-Integrated+Applications+with+Indirect+Prompt+Injection.%22&amp;u=a1aHR0cHM6Ly9oaXguYWkvc2Nob2xhci9wYXBlci9ub3Qtd2hhdC15b3V2ZS1zaWduZWQtdXAtZm9yLWNvbXByb21pc2luZy1yZWFsLXdvcmxkLWxsbS1pbnRlZ3JhdGVkLWFwcGxpY2F0aW9ucy13aXRoLWluZGlyZWN0LXByb21wdC1pbmplY3Rpb24tNzA1ZTQ5YWZkOTIxMzBmMmJjMWUwZDRkMGIxZjZjYjE0ZTg4ODAzZ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 b="0" l="0" r="2609" t="0"/>
          <a:stretch/>
        </p:blipFill>
        <p:spPr>
          <a:xfrm>
            <a:off x="-6199" y="-1"/>
            <a:ext cx="12192001" cy="5739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&#10;&#10;Description automatically generated" id="94" name="Google Shape;9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26165" y="250926"/>
            <a:ext cx="4939665" cy="10331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/>
          <p:nvPr/>
        </p:nvSpPr>
        <p:spPr>
          <a:xfrm>
            <a:off x="-6200" y="4478100"/>
            <a:ext cx="12192000" cy="2379900"/>
          </a:xfrm>
          <a:prstGeom prst="rect">
            <a:avLst/>
          </a:prstGeom>
          <a:solidFill>
            <a:srgbClr val="9537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: Rohit </a:t>
            </a:r>
            <a:r>
              <a:rPr b="1" lang="en-IN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Navi</a:t>
            </a:r>
            <a:r>
              <a:rPr b="1" i="0" lang="en-IN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nchandra Kandpal, </a:t>
            </a:r>
            <a:r>
              <a:rPr b="1" lang="en-IN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Vikas Bhati, </a:t>
            </a:r>
            <a:endParaRPr b="1"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Anish Prajapati, Aashish Sumera</a:t>
            </a:r>
            <a:endParaRPr sz="30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Enrollment No: </a:t>
            </a:r>
            <a:r>
              <a:rPr b="1" lang="en-IN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2201030700016</a:t>
            </a:r>
            <a:r>
              <a:rPr b="1" i="0" lang="en-IN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22010307000</a:t>
            </a:r>
            <a:r>
              <a:rPr b="1" lang="en-IN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61, </a:t>
            </a:r>
            <a:endParaRPr b="1"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2301030730023</a:t>
            </a:r>
            <a:r>
              <a:rPr b="1" lang="en-IN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2201030700003</a:t>
            </a:r>
            <a:br>
              <a:rPr b="1" i="0" lang="en-IN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IN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Branch: </a:t>
            </a:r>
            <a:r>
              <a:rPr b="1" i="0" lang="en-IN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(CS)</a:t>
            </a:r>
            <a:endParaRPr sz="3000"/>
          </a:p>
        </p:txBody>
      </p:sp>
      <p:sp>
        <p:nvSpPr>
          <p:cNvPr id="96" name="Google Shape;96;p1"/>
          <p:cNvSpPr txBox="1"/>
          <p:nvPr/>
        </p:nvSpPr>
        <p:spPr>
          <a:xfrm>
            <a:off x="1041573" y="1308153"/>
            <a:ext cx="105804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n-IN" sz="5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IN" sz="5400" u="none" cap="none" strike="noStrike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Major Project</a:t>
            </a:r>
            <a:endParaRPr b="1" i="0" sz="5400" u="none" cap="none" strike="noStrike">
              <a:solidFill>
                <a:srgbClr val="6324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200" u="none" cap="none" strike="noStrike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1010073492</a:t>
            </a:r>
            <a:endParaRPr b="1" i="0" sz="5400" u="none" cap="none" strike="noStrike">
              <a:solidFill>
                <a:srgbClr val="6324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lang="en-IN" sz="5400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Bhishma</a:t>
            </a:r>
            <a:r>
              <a:rPr b="1" lang="en-IN" sz="5400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1" lang="en-IN" sz="5400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 Security Testing Platform</a:t>
            </a:r>
            <a:endParaRPr/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31475" y="56255"/>
            <a:ext cx="1422400" cy="711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Index</a:t>
            </a:r>
            <a:endParaRPr/>
          </a:p>
        </p:txBody>
      </p:sp>
      <p:sp>
        <p:nvSpPr>
          <p:cNvPr id="103" name="Google Shape;103;p2"/>
          <p:cNvSpPr txBox="1"/>
          <p:nvPr>
            <p:ph idx="1" type="body"/>
          </p:nvPr>
        </p:nvSpPr>
        <p:spPr>
          <a:xfrm>
            <a:off x="609600" y="141765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/>
              <a:t>Introduction</a:t>
            </a:r>
            <a:endParaRPr sz="2800"/>
          </a:p>
          <a:p>
            <a:pPr indent="-3175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/>
              <a:t>Background and Motivation</a:t>
            </a:r>
            <a:endParaRPr sz="2800"/>
          </a:p>
          <a:p>
            <a:pPr indent="-3175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/>
              <a:t>Relevance and Importance</a:t>
            </a:r>
            <a:endParaRPr sz="2800"/>
          </a:p>
          <a:p>
            <a:pPr indent="-3175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/>
              <a:t>Literature review</a:t>
            </a:r>
            <a:endParaRPr sz="2800"/>
          </a:p>
          <a:p>
            <a:pPr indent="-3175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/>
              <a:t>Objectives</a:t>
            </a:r>
            <a:endParaRPr sz="2800"/>
          </a:p>
          <a:p>
            <a:pPr indent="-3175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/>
              <a:t>Required Tools and Technology</a:t>
            </a:r>
            <a:endParaRPr sz="2800"/>
          </a:p>
          <a:p>
            <a:pPr indent="-3175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/>
              <a:t>Method/ Approach</a:t>
            </a:r>
            <a:endParaRPr sz="2800"/>
          </a:p>
          <a:p>
            <a:pPr indent="-3175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/>
              <a:t>Bibliography</a:t>
            </a:r>
            <a:endParaRPr sz="2800"/>
          </a:p>
        </p:txBody>
      </p:sp>
      <p:sp>
        <p:nvSpPr>
          <p:cNvPr id="104" name="Google Shape;104;p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24-01-2026</a:t>
            </a:r>
            <a:endParaRPr/>
          </a:p>
        </p:txBody>
      </p:sp>
      <p:sp>
        <p:nvSpPr>
          <p:cNvPr id="105" name="Google Shape;105;p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Introduction</a:t>
            </a:r>
            <a:endParaRPr/>
          </a:p>
        </p:txBody>
      </p:sp>
      <p:sp>
        <p:nvSpPr>
          <p:cNvPr id="111" name="Google Shape;111;p3"/>
          <p:cNvSpPr txBox="1"/>
          <p:nvPr>
            <p:ph idx="1" type="body"/>
          </p:nvPr>
        </p:nvSpPr>
        <p:spPr>
          <a:xfrm>
            <a:off x="1436550" y="1417650"/>
            <a:ext cx="9318900" cy="47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Large Language Models (LLMs) like ChatGPT, Claude, and Gemini are being rapidly integrated into enterprise applications - chatbots, customer service, code generation, and decision-making systems.</a:t>
            </a:r>
            <a:endParaRPr sz="2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This integration introduces a new class of security vulnerabilities unique to AI systems, particularly Prompt Injection attacks.</a:t>
            </a:r>
            <a:endParaRPr sz="2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Prompt Injection allows attackers to manipulate LLM behavior by crafting malicious inputs that override system instructions, bypass </a:t>
            </a:r>
            <a:endParaRPr sz="2200"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  safety guardrails, or extract sensitive information.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Bhishma provides 60+ attack vectors across 7 OWASP-aligned categories, a novel Context Boundary Testing module, a weighted risk scoring algorithm, and an integrated Defence Sandbox with 8 research-backed mechanisms.</a:t>
            </a:r>
            <a:endParaRPr sz="2200"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Research Domain: AI Security, Cybersecurity, Application Security | Platform: Web-based, Open-Source</a:t>
            </a:r>
            <a:endParaRPr sz="2200"/>
          </a:p>
        </p:txBody>
      </p:sp>
      <p:sp>
        <p:nvSpPr>
          <p:cNvPr id="112" name="Google Shape;112;p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24-01-2026</a:t>
            </a:r>
            <a:endParaRPr/>
          </a:p>
        </p:txBody>
      </p:sp>
      <p:sp>
        <p:nvSpPr>
          <p:cNvPr id="113" name="Google Shape;113;p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Background and Motivation</a:t>
            </a:r>
            <a:endParaRPr/>
          </a:p>
        </p:txBody>
      </p:sp>
      <p:sp>
        <p:nvSpPr>
          <p:cNvPr id="119" name="Google Shape;119;p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24-01-2026</a:t>
            </a:r>
            <a:endParaRPr/>
          </a:p>
        </p:txBody>
      </p:sp>
      <p:sp>
        <p:nvSpPr>
          <p:cNvPr id="120" name="Google Shape;120;p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1" name="Google Shape;121;p4"/>
          <p:cNvSpPr txBox="1"/>
          <p:nvPr>
            <p:ph idx="1" type="body"/>
          </p:nvPr>
        </p:nvSpPr>
        <p:spPr>
          <a:xfrm>
            <a:off x="1436550" y="1294249"/>
            <a:ext cx="9524100" cy="47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Background: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Traditional security testing tools (OWASP ZAP, Burp Suite) were designed for web applications and are inadequate for LLM systems.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The OWASP Top 10 for LLM Applications (2023) identified Prompt Injection as the #1 security risk for LLM-integrated applications [1].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86% of 36 real-world LLM applications tested were found vulnerable to prompt injection attacks (HouYi Research, 2023) [2].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2200"/>
            </a:br>
            <a:r>
              <a:rPr lang="en-IN" sz="2200"/>
              <a:t>Motivation: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Fragmented Tooling - No single platform covers all attack types + defences (Garak, PyRIT are CLI-only, specialized)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Organizations deploying AI lack visibility into their vulnerability exposure against prompt-based attacks.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No Context Boundary Testing - Existing tools miss scope violations (e.g. medical chatbot answering legal queries - a regulatory risk under HIPAA/SEC)</a:t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Relevance and Importance</a:t>
            </a:r>
            <a:endParaRPr/>
          </a:p>
        </p:txBody>
      </p:sp>
      <p:sp>
        <p:nvSpPr>
          <p:cNvPr id="127" name="Google Shape;127;p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24-01-2026</a:t>
            </a:r>
            <a:endParaRPr/>
          </a:p>
        </p:txBody>
      </p:sp>
      <p:sp>
        <p:nvSpPr>
          <p:cNvPr id="128" name="Google Shape;128;p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9" name="Google Shape;129;p5"/>
          <p:cNvSpPr txBox="1"/>
          <p:nvPr>
            <p:ph idx="1" type="body"/>
          </p:nvPr>
        </p:nvSpPr>
        <p:spPr>
          <a:xfrm>
            <a:off x="1436550" y="1269569"/>
            <a:ext cx="9318900" cy="47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/>
              <a:t>Why This Research Matters: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1. Industry Need: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Market for AI security tools projected to reach $60B by 2028 [3]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Every company deploying LLMs needs security testing capabilities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2. Academic Contribution: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Novel approach combining multiple detection techniques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Practical o</a:t>
            </a:r>
            <a:r>
              <a:rPr lang="en-IN" sz="2200"/>
              <a:t>pen-source contribution to the security community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3. Who Benefits: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Developers building LLM-powered apps → use auto-scan before deployment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Security teams → AI red-teaming with 60+ curated attack vectors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Compliance officers → Context Boundary Testing for HIPAA, SEC, legal scope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4. Research Gap: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Existing research focuses on attacks, not detection tools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No standardized testing framework for LLM vulnerabilities</a:t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ebe9a01eb_0_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Literature Review</a:t>
            </a:r>
            <a:endParaRPr/>
          </a:p>
        </p:txBody>
      </p:sp>
      <p:sp>
        <p:nvSpPr>
          <p:cNvPr id="135" name="Google Shape;135;g3debe9a01eb_0_9"/>
          <p:cNvSpPr txBox="1"/>
          <p:nvPr>
            <p:ph idx="10" type="dt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24-01-2026</a:t>
            </a:r>
            <a:endParaRPr/>
          </a:p>
        </p:txBody>
      </p:sp>
      <p:sp>
        <p:nvSpPr>
          <p:cNvPr id="136" name="Google Shape;136;g3debe9a01eb_0_9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7" name="Google Shape;137;g3debe9a01eb_0_9"/>
          <p:cNvSpPr txBox="1"/>
          <p:nvPr>
            <p:ph idx="1" type="body"/>
          </p:nvPr>
        </p:nvSpPr>
        <p:spPr>
          <a:xfrm>
            <a:off x="1458875" y="1269575"/>
            <a:ext cx="9230400" cy="47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/>
              <a:t>Key Research Papers: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[1] OWASP Top 10 for LLM Applications (2023)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Established first standardized vulnerability taxonomy for LLMs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Identified 10 critical risks including prompt injection, data poisoning, and sensitive information disclosure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[2] "Prompt Injection Attack Against LLM-Integrated Applications" 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Liu et al. (2023) - arXiv:2306.05499. Introduced HouYi attack framework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Tested 36 applications, found 31 vulnerable (86%). Validated by 10 vendors 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[3] "Ignore This Title and HackAPrompt" - Schulhoff et al. (2023)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Created comprehensive taxonomy of prompt injection attacks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Categorized attacks into direct and indirect injection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/>
              <a:t>[4] Wei et al. (2023) - "Jailbroken: How Does LLM Safety Training Fail?"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Showed safety training can be systematically bypassed; informs Bhisma's jailbreak category (12 vectors)</a:t>
            </a:r>
            <a:endParaRPr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Literature Review</a:t>
            </a:r>
            <a:endParaRPr/>
          </a:p>
        </p:txBody>
      </p:sp>
      <p:sp>
        <p:nvSpPr>
          <p:cNvPr id="143" name="Google Shape;143;p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24-01-2026</a:t>
            </a:r>
            <a:endParaRPr/>
          </a:p>
        </p:txBody>
      </p:sp>
      <p:sp>
        <p:nvSpPr>
          <p:cNvPr id="144" name="Google Shape;144;p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45" name="Google Shape;145;p6"/>
          <p:cNvSpPr txBox="1"/>
          <p:nvPr>
            <p:ph idx="1" type="body"/>
          </p:nvPr>
        </p:nvSpPr>
        <p:spPr>
          <a:xfrm>
            <a:off x="1458875" y="1269575"/>
            <a:ext cx="9230400" cy="47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/>
              <a:t>Key Research Papers: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[5] "Greshake et al. (2023) - Indirect Prompt Injection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Documented attacks via untrusted web content; Bhisma implements HTML/PDF/markdown injection vectors</a:t>
            </a:r>
            <a:endParaRPr sz="2200"/>
          </a:p>
        </p:txBody>
      </p:sp>
      <p:graphicFrame>
        <p:nvGraphicFramePr>
          <p:cNvPr id="146" name="Google Shape;146;p6"/>
          <p:cNvGraphicFramePr/>
          <p:nvPr/>
        </p:nvGraphicFramePr>
        <p:xfrm>
          <a:off x="1628688" y="30248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{15CA0A09-804E-4D79-A573-ADB28B55AC29}</a:tableStyleId>
              </a:tblPr>
              <a:tblGrid>
                <a:gridCol w="1378250"/>
                <a:gridCol w="4553175"/>
                <a:gridCol w="2805750"/>
              </a:tblGrid>
              <a:tr h="3569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Tool</a:t>
                      </a:r>
                      <a:endParaRPr b="1"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Strength</a:t>
                      </a:r>
                      <a:endParaRPr b="1"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Limitation</a:t>
                      </a:r>
                      <a:endParaRPr b="1"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5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Garak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Open-source, 100+ probes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 only, no UI, no defence testing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5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Microsoft PyRIT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Enterprise-grade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Azure-only, steep learning curve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5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HackAPrompt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 adversarial examples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Static dataset, no live testing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5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Bhisma</a:t>
                      </a:r>
                      <a:endParaRPr b="1"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Web UI, 60+ vectors, defence sandbox, context boundary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New — prototype stage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Objectives</a:t>
            </a:r>
            <a:endParaRPr/>
          </a:p>
        </p:txBody>
      </p:sp>
      <p:sp>
        <p:nvSpPr>
          <p:cNvPr id="152" name="Google Shape;152;p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24-01-2026</a:t>
            </a:r>
            <a:endParaRPr/>
          </a:p>
        </p:txBody>
      </p:sp>
      <p:sp>
        <p:nvSpPr>
          <p:cNvPr id="153" name="Google Shape;153;p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4" name="Google Shape;154;p7"/>
          <p:cNvSpPr txBox="1"/>
          <p:nvPr>
            <p:ph idx="1" type="body"/>
          </p:nvPr>
        </p:nvSpPr>
        <p:spPr>
          <a:xfrm>
            <a:off x="1247400" y="1417650"/>
            <a:ext cx="9697200" cy="47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/>
              <a:t>Primary Objectives: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1. Develop a web-based platform for automated LLM security testing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2. Create a comprehensive attack library covering: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     - Prompt Injection (direct and indirect)		- Jailbreak attempts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     - Data/System Prompt Extraction				- Context Manipulation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3. Implement automated vulnerability detection algorithms that analyze LLM</a:t>
            </a:r>
            <a:br>
              <a:rPr lang="en-IN" sz="2200"/>
            </a:br>
            <a:r>
              <a:rPr lang="en-IN" sz="2200"/>
              <a:t>    responses for security violations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4. Design a defense testing module to evaluate protection strategies: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     - Input sanitization	- Prompt hardening		- Output filtering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5. Generate actionable security reports with risk scores and 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    </a:t>
            </a:r>
            <a:r>
              <a:rPr lang="en-IN" sz="2200"/>
              <a:t> </a:t>
            </a:r>
            <a:r>
              <a:rPr lang="en-IN" sz="2200"/>
              <a:t>remediation recommendations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6. Open-source the platform for community contribution and research</a:t>
            </a:r>
            <a:endParaRPr sz="2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b9b05fd70_0_3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Required Tools and Technology</a:t>
            </a:r>
            <a:endParaRPr/>
          </a:p>
        </p:txBody>
      </p:sp>
      <p:sp>
        <p:nvSpPr>
          <p:cNvPr id="160" name="Google Shape;160;g3bb9b05fd70_0_38"/>
          <p:cNvSpPr txBox="1"/>
          <p:nvPr>
            <p:ph idx="10" type="dt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24-01-2026</a:t>
            </a:r>
            <a:endParaRPr/>
          </a:p>
        </p:txBody>
      </p:sp>
      <p:sp>
        <p:nvSpPr>
          <p:cNvPr id="161" name="Google Shape;161;g3bb9b05fd70_0_38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aphicFrame>
        <p:nvGraphicFramePr>
          <p:cNvPr id="162" name="Google Shape;162;g3bb9b05fd70_0_38"/>
          <p:cNvGraphicFramePr/>
          <p:nvPr/>
        </p:nvGraphicFramePr>
        <p:xfrm>
          <a:off x="952500" y="13436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{2B936CAC-1360-44C0-B208-071E78841873}</a:tableStyleId>
              </a:tblPr>
              <a:tblGrid>
                <a:gridCol w="2838450"/>
                <a:gridCol w="3810000"/>
                <a:gridCol w="4171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22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Category</a:t>
                      </a:r>
                      <a:endParaRPr b="1" sz="2200">
                        <a:solidFill>
                          <a:srgbClr val="1F1F1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22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Component/Tool</a:t>
                      </a:r>
                      <a:endParaRPr b="1" sz="2200">
                        <a:solidFill>
                          <a:srgbClr val="1F1F1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22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Details</a:t>
                      </a:r>
                      <a:endParaRPr b="1" sz="2200">
                        <a:solidFill>
                          <a:srgbClr val="1F1F1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Frontend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 Tool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React.js with Vite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Components &amp; </a:t>
                      </a: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Styling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chemeClr val="lt1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Shadcn/UI &amp; </a:t>
                      </a: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Tailwind CSS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Visualization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Chart.js/Recharts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Backend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Framework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Node.js with Express.js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Architecture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REST API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 Integration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Main &amp; Optional API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Groq API &amp; </a:t>
                      </a: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chemeClr val="lt1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OpenAI API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Local Testing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Ollama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Deployment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Hosting (Frontend/Backend)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Vercel &amp; Render/Railway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Version Control &amp; CI/CD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Git &amp; </a:t>
                      </a: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GitHub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Development Tools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Tools, IDEs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VS Code, </a:t>
                      </a: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ESLint / Prettier</a:t>
                      </a: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Postman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b9b05fd70_0_1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Required Tools and Technology</a:t>
            </a:r>
            <a:endParaRPr/>
          </a:p>
        </p:txBody>
      </p:sp>
      <p:sp>
        <p:nvSpPr>
          <p:cNvPr id="168" name="Google Shape;168;g3bb9b05fd70_0_14"/>
          <p:cNvSpPr txBox="1"/>
          <p:nvPr>
            <p:ph idx="10" type="dt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24-01-2026</a:t>
            </a:r>
            <a:endParaRPr/>
          </a:p>
        </p:txBody>
      </p:sp>
      <p:sp>
        <p:nvSpPr>
          <p:cNvPr id="169" name="Google Shape;169;g3bb9b05fd70_0_14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70" name="Google Shape;170;g3bb9b05fd70_0_14"/>
          <p:cNvPicPr preferRelativeResize="0"/>
          <p:nvPr/>
        </p:nvPicPr>
        <p:blipFill rotWithShape="1">
          <a:blip r:embed="rId3">
            <a:alphaModFix/>
          </a:blip>
          <a:srcRect b="10682" l="0" r="0" t="0"/>
          <a:stretch/>
        </p:blipFill>
        <p:spPr>
          <a:xfrm>
            <a:off x="1802776" y="1278350"/>
            <a:ext cx="8586424" cy="5078000"/>
          </a:xfrm>
          <a:prstGeom prst="rect">
            <a:avLst/>
          </a:prstGeom>
          <a:noFill/>
          <a:ln cap="flat" cmpd="sng" w="76200">
            <a:solidFill>
              <a:srgbClr val="FFE59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Project Approach</a:t>
            </a:r>
            <a:endParaRPr/>
          </a:p>
        </p:txBody>
      </p:sp>
      <p:sp>
        <p:nvSpPr>
          <p:cNvPr id="176" name="Google Shape;176;p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24-01-2026</a:t>
            </a:r>
            <a:endParaRPr/>
          </a:p>
        </p:txBody>
      </p:sp>
      <p:sp>
        <p:nvSpPr>
          <p:cNvPr id="177" name="Google Shape;177;p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78" name="Google Shape;178;p9"/>
          <p:cNvSpPr txBox="1"/>
          <p:nvPr>
            <p:ph idx="1" type="body"/>
          </p:nvPr>
        </p:nvSpPr>
        <p:spPr>
          <a:xfrm>
            <a:off x="609600" y="1495400"/>
            <a:ext cx="5486400" cy="47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200">
                <a:solidFill>
                  <a:srgbClr val="000000"/>
                </a:solidFill>
              </a:rPr>
              <a:t>Phase 1: Research &amp; Design (Week 1)</a:t>
            </a:r>
            <a:endParaRPr b="1"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rgbClr val="000000"/>
                </a:solidFill>
              </a:rPr>
              <a:t>- Literature review of LLM vulnerabilities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rgbClr val="000000"/>
                </a:solidFill>
              </a:rPr>
              <a:t>- Study OWASP Top 10 for LLM Applications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rgbClr val="000000"/>
                </a:solidFill>
              </a:rPr>
              <a:t>- Design system architecture and API structure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200">
                <a:solidFill>
                  <a:srgbClr val="000000"/>
                </a:solidFill>
              </a:rPr>
              <a:t>Phase 2: Core Development (Week 2-3)</a:t>
            </a:r>
            <a:endParaRPr b="1"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rgbClr val="000000"/>
                </a:solidFill>
              </a:rPr>
              <a:t>- Backend API development (Node.js)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rgbClr val="000000"/>
                </a:solidFill>
              </a:rPr>
              <a:t>- Attack implementation (50+ attack vectors)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rgbClr val="000000"/>
                </a:solidFill>
              </a:rPr>
              <a:t>- LLM integration layer for multiple providers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200">
                <a:solidFill>
                  <a:srgbClr val="000000"/>
                </a:solidFill>
              </a:rPr>
              <a:t>Phase 3: Detection Engine (Week 3-4)</a:t>
            </a:r>
            <a:endParaRPr b="1"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rgbClr val="000000"/>
                </a:solidFill>
              </a:rPr>
              <a:t>- Pattern-based detection algorithms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rgbClr val="000000"/>
                </a:solidFill>
              </a:rPr>
              <a:t>- Semantic analysis of responses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rgbClr val="000000"/>
                </a:solidFill>
              </a:rPr>
              <a:t>- Confidence scoring system</a:t>
            </a:r>
            <a:endParaRPr b="1" sz="2200"/>
          </a:p>
        </p:txBody>
      </p:sp>
      <p:sp>
        <p:nvSpPr>
          <p:cNvPr id="179" name="Google Shape;179;p9"/>
          <p:cNvSpPr txBox="1"/>
          <p:nvPr>
            <p:ph idx="1" type="body"/>
          </p:nvPr>
        </p:nvSpPr>
        <p:spPr>
          <a:xfrm>
            <a:off x="6096000" y="1472887"/>
            <a:ext cx="5486400" cy="47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00000"/>
                </a:solidFill>
              </a:rPr>
              <a:t>Phase 4: Frontend &amp; Integration (Week 4-5)</a:t>
            </a:r>
            <a:endParaRPr b="1"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rgbClr val="000000"/>
                </a:solidFill>
              </a:rPr>
              <a:t>- Dashboard development (React)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rgbClr val="000000"/>
                </a:solidFill>
              </a:rPr>
              <a:t>- Real-time testing interface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rgbClr val="000000"/>
                </a:solidFill>
              </a:rPr>
              <a:t>- Report generation module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00000"/>
                </a:solidFill>
              </a:rPr>
              <a:t>Phase 5: Testing &amp; Documentation (Week 5-6)</a:t>
            </a:r>
            <a:endParaRPr b="1"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rgbClr val="000000"/>
                </a:solidFill>
              </a:rPr>
              <a:t>- End-to-end testing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rgbClr val="000000"/>
                </a:solidFill>
              </a:rPr>
              <a:t>- Security validation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rgbClr val="000000"/>
                </a:solidFill>
              </a:rPr>
              <a:t>- Research paper writing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200"/>
              <a:t>Phase 6: Evaluation &amp; Analysis (Week 7-8)</a:t>
            </a:r>
            <a:endParaRPr b="1"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- OWASP coverage assessment (75%)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- Detection accuracy validation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- Auto-scan performance metrics (3–10 min)</a:t>
            </a:r>
            <a:endParaRPr sz="2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b9b05fd70_0_2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Project Working Method</a:t>
            </a:r>
            <a:endParaRPr/>
          </a:p>
        </p:txBody>
      </p:sp>
      <p:sp>
        <p:nvSpPr>
          <p:cNvPr id="185" name="Google Shape;185;g3bb9b05fd70_0_26"/>
          <p:cNvSpPr txBox="1"/>
          <p:nvPr>
            <p:ph idx="10" type="dt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24-01-2026</a:t>
            </a:r>
            <a:endParaRPr/>
          </a:p>
        </p:txBody>
      </p:sp>
      <p:sp>
        <p:nvSpPr>
          <p:cNvPr id="186" name="Google Shape;186;g3bb9b05fd70_0_26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87" name="Google Shape;187;g3bb9b05fd70_0_26"/>
          <p:cNvPicPr preferRelativeResize="0"/>
          <p:nvPr/>
        </p:nvPicPr>
        <p:blipFill rotWithShape="1">
          <a:blip r:embed="rId3">
            <a:alphaModFix/>
          </a:blip>
          <a:srcRect b="13704" l="0" r="0" t="0"/>
          <a:stretch/>
        </p:blipFill>
        <p:spPr>
          <a:xfrm>
            <a:off x="2058925" y="1417650"/>
            <a:ext cx="8074174" cy="4815925"/>
          </a:xfrm>
          <a:prstGeom prst="rect">
            <a:avLst/>
          </a:prstGeom>
          <a:noFill/>
          <a:ln cap="flat" cmpd="sng" w="76200">
            <a:solidFill>
              <a:srgbClr val="FFE59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ebe9a01eb_0_3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Project Working Method</a:t>
            </a:r>
            <a:endParaRPr/>
          </a:p>
        </p:txBody>
      </p:sp>
      <p:sp>
        <p:nvSpPr>
          <p:cNvPr id="193" name="Google Shape;193;g3debe9a01eb_0_32"/>
          <p:cNvSpPr txBox="1"/>
          <p:nvPr>
            <p:ph idx="10" type="dt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24-01-2026</a:t>
            </a:r>
            <a:endParaRPr/>
          </a:p>
        </p:txBody>
      </p:sp>
      <p:sp>
        <p:nvSpPr>
          <p:cNvPr id="194" name="Google Shape;194;g3debe9a01eb_0_32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95" name="Google Shape;195;g3debe9a01eb_0_32"/>
          <p:cNvSpPr txBox="1"/>
          <p:nvPr>
            <p:ph idx="1" type="body"/>
          </p:nvPr>
        </p:nvSpPr>
        <p:spPr>
          <a:xfrm>
            <a:off x="1247400" y="1417650"/>
            <a:ext cx="9697200" cy="47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/>
              <a:t>Core Detection Method — 4-Layer Analysis Pipeline: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1. Layer 1 - Refusal Pattern Matching: ≥2 refusal signals → SAFE (95% confidence)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2. Layer 2 - Category-Specific Vulnerability Indicators: ≥3 matches → VULNERABLE   (75–95%)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3. Layer 3 - Compliance Behaviour Detection: Step-by-step compliance, persona adoption → VULNERABLE (55–75%)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4. Layer 4 - Response Length Heuristics: &gt;500 chars without refusal → SUSPICIOUS (45%)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Risk Scoring Formula: Weighted sum of (severity × confidence) / max weight × 100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→ CRITICAL (70–100) | HIGH (50–69) | MEDIUM (30–49) | LOW (10–29) | MINIMAL (0–9)</a:t>
            </a:r>
            <a:endParaRPr sz="2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ebe9a01eb_0_4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Project Working Method</a:t>
            </a:r>
            <a:endParaRPr/>
          </a:p>
        </p:txBody>
      </p:sp>
      <p:sp>
        <p:nvSpPr>
          <p:cNvPr id="201" name="Google Shape;201;g3debe9a01eb_0_40"/>
          <p:cNvSpPr txBox="1"/>
          <p:nvPr>
            <p:ph idx="10" type="dt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24-01-2026</a:t>
            </a:r>
            <a:endParaRPr/>
          </a:p>
        </p:txBody>
      </p:sp>
      <p:sp>
        <p:nvSpPr>
          <p:cNvPr id="202" name="Google Shape;202;g3debe9a01eb_0_40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03" name="Google Shape;203;g3debe9a01eb_0_40"/>
          <p:cNvSpPr txBox="1"/>
          <p:nvPr>
            <p:ph idx="1" type="body"/>
          </p:nvPr>
        </p:nvSpPr>
        <p:spPr>
          <a:xfrm>
            <a:off x="1247400" y="1417650"/>
            <a:ext cx="9697200" cy="47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/>
              <a:t>Bhisma Attack Library: 60+ Vectors, 7 OWASP-Aligned Categories</a:t>
            </a:r>
            <a:endParaRPr sz="2200"/>
          </a:p>
        </p:txBody>
      </p:sp>
      <p:graphicFrame>
        <p:nvGraphicFramePr>
          <p:cNvPr id="204" name="Google Shape;204;g3debe9a01eb_0_40"/>
          <p:cNvGraphicFramePr/>
          <p:nvPr/>
        </p:nvGraphicFramePr>
        <p:xfrm>
          <a:off x="1505975" y="20292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{15CA0A09-804E-4D79-A573-ADB28B55AC29}</a:tableStyleId>
              </a:tblPr>
              <a:tblGrid>
                <a:gridCol w="975125"/>
                <a:gridCol w="4755375"/>
                <a:gridCol w="1384800"/>
                <a:gridCol w="1881275"/>
              </a:tblGrid>
              <a:tr h="411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b="1"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Category</a:t>
                      </a:r>
                      <a:endParaRPr b="1"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Vectors</a:t>
                      </a:r>
                      <a:endParaRPr b="1"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OWASP</a:t>
                      </a:r>
                      <a:endParaRPr b="1"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Prompt Injection (Direct)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LLM01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Prompt Injection (Indirect)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LLM01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Jailbreak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LLM01/02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Extraction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LLM06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Harmful Content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LLM02/09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Context Override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LLM08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Context Boundary </a:t>
                      </a:r>
                      <a:endParaRPr b="1"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8+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LLM08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Bibliography</a:t>
            </a:r>
            <a:endParaRPr/>
          </a:p>
        </p:txBody>
      </p:sp>
      <p:sp>
        <p:nvSpPr>
          <p:cNvPr id="210" name="Google Shape;210;p1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24-01-2026</a:t>
            </a:r>
            <a:endParaRPr/>
          </a:p>
        </p:txBody>
      </p:sp>
      <p:sp>
        <p:nvSpPr>
          <p:cNvPr id="211" name="Google Shape;211;p1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12" name="Google Shape;212;p10"/>
          <p:cNvSpPr txBox="1"/>
          <p:nvPr>
            <p:ph idx="1" type="body"/>
          </p:nvPr>
        </p:nvSpPr>
        <p:spPr>
          <a:xfrm>
            <a:off x="1247400" y="1417650"/>
            <a:ext cx="9697200" cy="47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[1] OWASP Foundation. </a:t>
            </a:r>
            <a:r>
              <a:rPr lang="en-IN" sz="2200" u="sng">
                <a:solidFill>
                  <a:schemeClr val="hlink"/>
                </a:solidFill>
                <a:hlinkClick r:id="rId3"/>
              </a:rPr>
              <a:t>"OWASP Top 10 for Large Language Model Applications v1.1."</a:t>
            </a:r>
            <a:r>
              <a:rPr lang="en-IN" sz="2200"/>
              <a:t> OWASP, 2023. 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[2] Liu, Y., Deng, G., Li, Y., et al. </a:t>
            </a:r>
            <a:r>
              <a:rPr lang="en-IN" sz="2200" u="sng">
                <a:solidFill>
                  <a:schemeClr val="hlink"/>
                </a:solidFill>
                <a:hlinkClick r:id="rId4"/>
              </a:rPr>
              <a:t>"Prompt Injection attack against LLM-integrated Applications."</a:t>
            </a:r>
            <a:r>
              <a:rPr lang="en-IN" sz="2200"/>
              <a:t> </a:t>
            </a:r>
            <a:r>
              <a:rPr lang="en-IN" sz="2200"/>
              <a:t>arXiv preprint arXiv:2306.05499, 2023.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[3] Schulhoff, S., Pinto, J., et al. </a:t>
            </a:r>
            <a:r>
              <a:rPr lang="en-IN" sz="2200" u="sng">
                <a:solidFill>
                  <a:schemeClr val="hlink"/>
                </a:solidFill>
                <a:hlinkClick r:id="rId5"/>
              </a:rPr>
              <a:t>"Ignore This Title and HackAPrompt: Exposing Systemic Vulnerabilities of LLMs through a Global Scale Prompt Hacking Competition."</a:t>
            </a:r>
            <a:r>
              <a:rPr lang="en-IN" sz="2200"/>
              <a:t> arXiv:2311.16119, 2023.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[4] Wei, A., Haghtalab, N., Steinhardt, J. </a:t>
            </a:r>
            <a:r>
              <a:rPr lang="en-IN" sz="2200" u="sng">
                <a:solidFill>
                  <a:schemeClr val="hlink"/>
                </a:solidFill>
                <a:hlinkClick r:id="rId6"/>
              </a:rPr>
              <a:t>"Jailbroken: How Does LLM Safety Training Fail?"</a:t>
            </a:r>
            <a:r>
              <a:rPr lang="en-IN" sz="2200"/>
              <a:t> arXiv:2307.02483, 2023.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[5] Greshake, K., et al. </a:t>
            </a:r>
            <a:r>
              <a:rPr lang="en-IN" sz="2200" u="sng">
                <a:solidFill>
                  <a:schemeClr val="hlink"/>
                </a:solidFill>
                <a:hlinkClick r:id="rId7"/>
              </a:rPr>
              <a:t>"Not What You've Signed Up For: Compromising Real-World LLM-Integrated Applications with Indirect Prompt Injection."</a:t>
            </a:r>
            <a:r>
              <a:rPr lang="en-IN" sz="2200"/>
              <a:t> arXiv:2302.12173, 2023.</a:t>
            </a:r>
            <a:endParaRPr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2020-09-07T10:12:37Z</dcterms:created>
  <dc:creator>Utsav Yagnik</dc:creator>
</cp:coreProperties>
</file>